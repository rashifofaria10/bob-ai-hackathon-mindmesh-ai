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4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66760" y="914400"/>
            <a:ext cx="3154680" cy="498348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DCDE6"/>
                </a:solidFill>
                <a:latin typeface="Aptos"/>
              </a:rPr>
              <a:t>AI-POWERED SUPPLY CHAIN CONTROL TOWER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4F7FC"/>
                </a:solidFill>
                <a:latin typeface="Aptos"/>
              </a:rPr>
              <a:t>ChainGuard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A6B4CA"/>
                </a:solidFill>
                <a:latin typeface="Aptos"/>
              </a:rPr>
              <a:t>Disruption intelligence • Shipment risk • Fleet utilisation • Cold-chain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246120"/>
            <a:ext cx="1828800" cy="475488"/>
          </a:xfrm>
          <a:prstGeom prst="roundRect">
            <a:avLst>
              <a:gd name="adj" fmla="val 12000"/>
            </a:avLst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IBM Bob-powered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160520"/>
            <a:ext cx="2514600" cy="713232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427939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DISRUPTIONS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8055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06464"/>
                </a:solidFill>
                <a:latin typeface="Aptos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1" y="4160520"/>
            <a:ext cx="2514600" cy="713232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427939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AFFECTED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448055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2B84B"/>
                </a:solidFill>
                <a:latin typeface="Aptos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120640"/>
            <a:ext cx="2514600" cy="713232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52395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44067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06464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93591" y="5120640"/>
            <a:ext cx="2514600" cy="713232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0752" y="52395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IDLE VEHICLES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544067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38C58A"/>
                </a:solidFill>
                <a:latin typeface="Aptos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1722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4-person team  |  AI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236208"/>
            <a:ext cx="6949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IN" sz="1100" dirty="0">
                <a:solidFill>
                  <a:srgbClr val="A6B4CA"/>
                </a:solidFill>
                <a:latin typeface="Aptos"/>
              </a:rPr>
              <a:t>Rashi Fofaria</a:t>
            </a:r>
            <a:r>
              <a:rPr sz="1100" b="0" dirty="0" smtClean="0">
                <a:solidFill>
                  <a:srgbClr val="A6B4CA"/>
                </a:solidFill>
                <a:latin typeface="Aptos"/>
              </a:rPr>
              <a:t>  </a:t>
            </a:r>
            <a:r>
              <a:rPr sz="1100" b="0" dirty="0">
                <a:solidFill>
                  <a:srgbClr val="A6B4CA"/>
                </a:solidFill>
                <a:latin typeface="Aptos"/>
              </a:rPr>
              <a:t>•  </a:t>
            </a:r>
            <a:r>
              <a:rPr sz="1100" b="0" dirty="0" err="1">
                <a:solidFill>
                  <a:srgbClr val="A6B4CA"/>
                </a:solidFill>
                <a:latin typeface="Aptos"/>
              </a:rPr>
              <a:t>Fagun</a:t>
            </a:r>
            <a:r>
              <a:rPr sz="1100" b="0" dirty="0">
                <a:solidFill>
                  <a:srgbClr val="A6B4CA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6B4CA"/>
                </a:solidFill>
                <a:latin typeface="Aptos"/>
              </a:rPr>
              <a:t>Mataria</a:t>
            </a:r>
            <a:r>
              <a:rPr sz="1100" b="0" dirty="0">
                <a:solidFill>
                  <a:srgbClr val="A6B4CA"/>
                </a:solidFill>
                <a:latin typeface="Aptos"/>
              </a:rPr>
              <a:t>  •  </a:t>
            </a:r>
            <a:r>
              <a:rPr sz="1100" b="0" dirty="0" err="1">
                <a:solidFill>
                  <a:srgbClr val="A6B4CA"/>
                </a:solidFill>
                <a:latin typeface="Aptos"/>
              </a:rPr>
              <a:t>Priya</a:t>
            </a:r>
            <a:r>
              <a:rPr sz="1100" b="0" dirty="0">
                <a:solidFill>
                  <a:srgbClr val="A6B4CA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6B4CA"/>
                </a:solidFill>
                <a:latin typeface="Aptos"/>
              </a:rPr>
              <a:t>Pathak</a:t>
            </a:r>
            <a:r>
              <a:rPr sz="1100" b="0" dirty="0">
                <a:solidFill>
                  <a:srgbClr val="A6B4CA"/>
                </a:solidFill>
                <a:latin typeface="Aptos"/>
              </a:rPr>
              <a:t>  •  </a:t>
            </a:r>
            <a:r>
              <a:rPr lang="en-US" sz="1100" dirty="0" err="1" smtClean="0">
                <a:solidFill>
                  <a:srgbClr val="A6B4CA"/>
                </a:solidFill>
                <a:latin typeface="Aptos"/>
              </a:rPr>
              <a:t>Yesha</a:t>
            </a:r>
            <a:r>
              <a:rPr lang="en-US" sz="1100" dirty="0" smtClean="0">
                <a:solidFill>
                  <a:srgbClr val="A6B4CA"/>
                </a:solidFill>
                <a:latin typeface="Aptos"/>
              </a:rPr>
              <a:t> </a:t>
            </a:r>
            <a:r>
              <a:rPr lang="en-US" sz="1100" dirty="0" err="1" smtClean="0">
                <a:solidFill>
                  <a:srgbClr val="A6B4CA"/>
                </a:solidFill>
                <a:latin typeface="Aptos"/>
              </a:rPr>
              <a:t>Chauhan</a:t>
            </a:r>
            <a:endParaRPr sz="1100" b="0" dirty="0">
              <a:solidFill>
                <a:srgbClr val="A6B4C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CHAINGUARD AI  •  IBM Bob Innovation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01 •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7FC"/>
                </a:solidFill>
                <a:latin typeface="Aptos"/>
              </a:rPr>
              <a:t>Supply-chain disruptions cascade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6B4CA"/>
                </a:solidFill>
                <a:latin typeface="Aptos"/>
              </a:rPr>
              <a:t>One event can impact many shipments while capacity and cold-chain visibility remain uneven.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6858000" cy="416052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06464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6126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Port strikes, heavy rainfall, road closures, geopolitical events and carrier failures can disrupt multiple shipments simultaneously.</a:t>
            </a:r>
          </a:p>
          <a:p>
            <a:pPr>
              <a:spcAft>
                <a:spcPts val="3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Fleet vehicles may remain idle while urgent shipments need transportation.</a:t>
            </a:r>
          </a:p>
          <a:p>
            <a:pPr>
              <a:spcAft>
                <a:spcPts val="3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Temperature-sensitive cargo can cross safe limits before operators notice.</a:t>
            </a:r>
          </a:p>
          <a:p>
            <a:pPr>
              <a:spcAft>
                <a:spcPts val="3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Operations teams need one place to understand impact, prioritise risk and decide what to do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92024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DISRUPTION → CASCADING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423160"/>
            <a:ext cx="3611880" cy="82296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253288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Mumbai Port Strike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53288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F06464"/>
                </a:solidFill>
                <a:latin typeface="Aptos"/>
              </a:rPr>
              <a:t>43* affected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8620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Shipment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502152"/>
            <a:ext cx="3611880" cy="82296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28431" y="36118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Fleet imbalance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61188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38C58A"/>
                </a:solidFill>
                <a:latin typeface="Aptos"/>
              </a:rPr>
              <a:t>Idle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3941064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Urgent demand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581144"/>
            <a:ext cx="3611880" cy="82296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28431" y="469087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Cold-chain excursion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69087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F2B84B"/>
                </a:solidFill>
                <a:latin typeface="Aptos"/>
              </a:rPr>
              <a:t>9.7°C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5020056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Potential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742432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*Scenario figures are illustrative/simulated and should match the final demo dataset.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CHAINGUARD AI  •  IBM Bob Innovation Hackathon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02 •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7FC"/>
                </a:solidFill>
                <a:latin typeface="Aptos"/>
              </a:rPr>
              <a:t>ChainGuard AI turns disruption data into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6B4CA"/>
                </a:solidFill>
                <a:latin typeface="Aptos"/>
              </a:rPr>
              <a:t>An integrated control tower connects operational signals, intelligence and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423160" cy="260604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423160" cy="109728"/>
          </a:xfrm>
          <a:prstGeom prst="roundRect">
            <a:avLst>
              <a:gd name="adj" fmla="val 12000"/>
            </a:avLst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4F8CFF"/>
                </a:solidFill>
                <a:latin typeface="Aptos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Disruptions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Shipments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Fleet • Routes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Carriers • 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971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A6B4CA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965960"/>
            <a:ext cx="2423160" cy="260604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47288" y="1965960"/>
            <a:ext cx="2423160" cy="109728"/>
          </a:xfrm>
          <a:prstGeom prst="roundRect">
            <a:avLst>
              <a:gd name="adj" fmla="val 12000"/>
            </a:avLst>
          </a:prstGeom>
          <a:solidFill>
            <a:srgbClr val="3DCDE6"/>
          </a:solidFill>
          <a:ln>
            <a:solidFill>
              <a:srgbClr val="3D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22677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3DCDE6"/>
                </a:solidFill>
                <a:latin typeface="Aptos"/>
              </a:rPr>
              <a:t>AI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78892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Risk scoring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Anomaly detection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Recommendation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971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A6B4CA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965960"/>
            <a:ext cx="2423160" cy="260604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0216" y="1965960"/>
            <a:ext cx="2423160" cy="109728"/>
          </a:xfrm>
          <a:prstGeom prst="roundRect">
            <a:avLst>
              <a:gd name="adj" fmla="val 12000"/>
            </a:avLst>
          </a:prstGeom>
          <a:solidFill>
            <a:srgbClr val="38C58A"/>
          </a:solidFill>
          <a:ln>
            <a:solidFill>
              <a:srgbClr val="38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3096" y="22677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38C58A"/>
                </a:solidFill>
                <a:latin typeface="Aptos"/>
              </a:rPr>
              <a:t>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78892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Prioritise risk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Reroute / carrier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Redeploy fleet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2971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A6B4CA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1965960"/>
            <a:ext cx="2423160" cy="260604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53144" y="1965960"/>
            <a:ext cx="2423160" cy="109728"/>
          </a:xfrm>
          <a:prstGeom prst="roundRect">
            <a:avLst>
              <a:gd name="adj" fmla="val 12000"/>
            </a:avLst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36024" y="22677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2B84B"/>
                </a:solidFill>
                <a:latin typeface="Aptos"/>
              </a:rPr>
              <a:t>IBM BOB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78892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Natural-language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AI copilot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Ask → understand → 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983480"/>
            <a:ext cx="2423160" cy="86868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13892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SEE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1324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What is affected?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7288" y="4983480"/>
            <a:ext cx="2423160" cy="86868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84448" y="513892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06464"/>
                </a:solidFill>
                <a:latin typeface="Aptos"/>
              </a:rPr>
              <a:t>PREDICT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541324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What is most risky?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0216" y="4983480"/>
            <a:ext cx="2423160" cy="86868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7376" y="513892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38C58A"/>
                </a:solidFill>
                <a:latin typeface="Aptos"/>
              </a:rPr>
              <a:t>OPTIMISE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541324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What resource / route?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53144" y="4983480"/>
            <a:ext cx="2423160" cy="86868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90304" y="513892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2B84B"/>
                </a:solidFill>
                <a:latin typeface="Aptos"/>
              </a:rPr>
              <a:t>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541324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What should we do now?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CHAINGUARD AI  •  IBM Bob Innovation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03 • FRONTEND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7FC"/>
                </a:solidFill>
                <a:latin typeface="Aptos"/>
              </a:rPr>
              <a:t>A decision-first operations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6B4CA"/>
                </a:solidFill>
                <a:latin typeface="Aptos"/>
              </a:rPr>
              <a:t>The supplied frontend is a Next.js app with persistent control-tower navigation, risk visuals and an integrated Bob entry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452360" cy="425196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1325880" cy="388620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21284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ChainGuard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9748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Control Tower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0896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Shipments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52044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Fleet &amp;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93192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Disruptions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34340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Cold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75488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16636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Ask Bob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1488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4F7FC"/>
                </a:solidFill>
                <a:latin typeface="Aptos"/>
              </a:rPr>
              <a:t>Control Tower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2664286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23160" y="2743200"/>
            <a:ext cx="12984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Active disruptions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926079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06464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2651760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0" y="2743200"/>
            <a:ext cx="12984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Affected shipments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926079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2B84B"/>
                </a:solidFill>
                <a:latin typeface="Aptos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651760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06440" y="2743200"/>
            <a:ext cx="12984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Critical shipments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926079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06464"/>
                </a:solidFill>
                <a:latin typeface="Aptos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3493008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23160" y="3584448"/>
            <a:ext cx="12984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Idle vehicles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3767328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38C58A"/>
                </a:solidFill>
                <a:latin typeface="Aptos"/>
              </a:rPr>
              <a:t>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3493008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0" y="3584448"/>
            <a:ext cx="12984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Cold-chain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767328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F8CFF"/>
                </a:solidFill>
                <a:latin typeface="Aptos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443484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14600" y="4617720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Global network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27432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╱╲──╱──╲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5029200"/>
            <a:ext cx="27432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F8CFF"/>
                </a:solidFill>
                <a:latin typeface="Aptos"/>
              </a:rPr>
              <a:t>╱╲──╱──╲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138928"/>
            <a:ext cx="27432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╱╲──╱──╲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5248656"/>
            <a:ext cx="27432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╱╲──╱──╲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434840"/>
            <a:ext cx="1828800" cy="128016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461772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Risk overview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919472"/>
            <a:ext cx="731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Critical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4919472"/>
            <a:ext cx="3657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F06464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148072"/>
            <a:ext cx="731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High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5148072"/>
            <a:ext cx="3657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F2B84B"/>
                </a:solidFill>
                <a:latin typeface="Apto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376672"/>
            <a:ext cx="731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376672"/>
            <a:ext cx="3657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38C58A"/>
                </a:solidFill>
                <a:latin typeface="Aptos"/>
              </a:rPr>
              <a:t>17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20" y="1828800"/>
            <a:ext cx="3246120" cy="425196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49640" y="21488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3DCDE6"/>
                </a:solidFill>
                <a:latin typeface="Aptos"/>
              </a:rPr>
              <a:t>CORE MODULES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26060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Control Tower</a:t>
            </a:r>
          </a:p>
          <a:p>
            <a:pPr>
              <a:spcAft>
                <a:spcPts val="300"/>
              </a:spcAft>
              <a:defRPr sz="14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Shipment risk &amp; details</a:t>
            </a:r>
          </a:p>
          <a:p>
            <a:pPr>
              <a:spcAft>
                <a:spcPts val="300"/>
              </a:spcAft>
              <a:defRPr sz="14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Fleet &amp; asset utilisation</a:t>
            </a:r>
          </a:p>
          <a:p>
            <a:pPr>
              <a:spcAft>
                <a:spcPts val="300"/>
              </a:spcAft>
              <a:defRPr sz="14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Disruption impact</a:t>
            </a:r>
          </a:p>
          <a:p>
            <a:pPr>
              <a:spcAft>
                <a:spcPts val="300"/>
              </a:spcAft>
              <a:defRPr sz="14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Cold-chain monitoring</a:t>
            </a:r>
          </a:p>
          <a:p>
            <a:pPr>
              <a:spcAft>
                <a:spcPts val="300"/>
              </a:spcAft>
              <a:defRPr sz="14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AI recommendations</a:t>
            </a:r>
          </a:p>
          <a:p>
            <a:pPr>
              <a:spcAft>
                <a:spcPts val="300"/>
              </a:spcAft>
              <a:defRPr sz="1400">
                <a:solidFill>
                  <a:srgbClr val="F4F7FC"/>
                </a:solidFill>
                <a:latin typeface="Aptos"/>
              </a:defRPr>
            </a:pPr>
            <a:r>
              <a:rPr>
                <a:solidFill>
                  <a:srgbClr val="F4F7FC"/>
                </a:solidFill>
                <a:latin typeface="Aptos"/>
              </a:rPr>
              <a:t>• Ask Bob copilot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54406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Responsive, component-based 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CHAINGUARD AI  •  IBM Bob Innovation Hackathon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04 • AI /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7FC"/>
                </a:solidFill>
                <a:latin typeface="Aptos"/>
              </a:rPr>
              <a:t>Four intelligence modules drive the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6B4CA"/>
                </a:solidFill>
                <a:latin typeface="Aptos"/>
              </a:rPr>
              <a:t>The prototype combines transparent scoring, comparison logic, matching and anomaly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212080" cy="169164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0574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06464"/>
          </a:solidFill>
          <a:ln>
            <a:solidFill>
              <a:srgbClr val="F0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579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20574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06464"/>
                </a:solidFill>
                <a:latin typeface="Aptos"/>
              </a:rPr>
              <a:t>SHIPMENT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468880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Severity • distance • delay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Cargo sensitivity • deadline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Route / disruption exposure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169164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19088" y="20574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21579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0574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8CFF"/>
                </a:solidFill>
                <a:latin typeface="Aptos"/>
              </a:rPr>
              <a:t>ROUTE + CARRIER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468880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Compare risk, ETA and cost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Select best overall trade-off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Recommend safer carrier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886200"/>
            <a:ext cx="5212080" cy="169164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5528" y="41148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38C58A"/>
          </a:solidFill>
          <a:ln>
            <a:solidFill>
              <a:srgbClr val="38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42153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41148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8C58A"/>
                </a:solidFill>
                <a:latin typeface="Aptos"/>
              </a:rPr>
              <a:t>FLEET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0472" y="4526280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Idle vehicles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Capacity + vehicle type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Location + availability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86200"/>
            <a:ext cx="5212080" cy="169164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9088" y="41148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3DCDE6"/>
          </a:solidFill>
          <a:ln>
            <a:solidFill>
              <a:srgbClr val="3D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42153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C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41148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DCDE6"/>
                </a:solidFill>
                <a:latin typeface="Aptos"/>
              </a:rPr>
              <a:t>COLD-CHAIN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4526280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Temperature logs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Safe-range monitoring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Excursion + severity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989320"/>
            <a:ext cx="10835640" cy="347472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053328"/>
            <a:ext cx="10469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Example: SH1024 → risk 94/100 (CRITICAL) → reroute + carrier change + refrigerated vehicle → temperature excursion escalated.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CHAINGUARD AI  •  IBM Bob Innovation Hackathon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05 • END-TO-END DEMO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7FC"/>
                </a:solidFill>
                <a:latin typeface="Aptos"/>
              </a:rPr>
              <a:t>One disruption. One prioritised response.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6B4CA"/>
                </a:solidFill>
                <a:latin typeface="Aptos"/>
              </a:rPr>
              <a:t>Use the Mumbai Port Strike scenario to demonstrate signal → risk → recommendation →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0646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06464"/>
                </a:solidFill>
                <a:latin typeface="Aptos"/>
              </a:rPr>
              <a:t>DISRUPTION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79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7FC"/>
                </a:solidFill>
                <a:latin typeface="Aptos"/>
              </a:rPr>
              <a:t>Mumbai Port Strike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620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System flags affected shipments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3911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06464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039112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06464"/>
                </a:solidFill>
                <a:latin typeface="Aptos"/>
              </a:rPr>
              <a:t>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68879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7FC"/>
                </a:solidFill>
                <a:latin typeface="Aptos"/>
              </a:rPr>
              <a:t>SH1024 • Vaccines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620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Risk score 94 • Critical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F8C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039112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468879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7FC"/>
                </a:solidFill>
                <a:latin typeface="Aptos"/>
              </a:rPr>
              <a:t>Alternative Route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620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Lower disruption risk / balanced trade-off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40479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00507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8C58A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05071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38C58A"/>
                </a:solidFill>
                <a:latin typeface="Aptos"/>
              </a:rPr>
              <a:t>FLEET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7FC"/>
                </a:solidFill>
                <a:latin typeface="Aptos"/>
              </a:rPr>
              <a:t>Refrigerated idle vehicle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28031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Matched by capacity, location &amp;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840479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400507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2B84B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005071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2B84B"/>
                </a:solidFill>
                <a:latin typeface="Aptos"/>
              </a:rPr>
              <a:t>COLD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43484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7FC"/>
                </a:solidFill>
                <a:latin typeface="Aptos"/>
              </a:rPr>
              <a:t>9.7°C excursion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828031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Outside 2–8°C safe range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840479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19" y="400507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DCDE6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005071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3DCDE6"/>
                </a:solidFill>
                <a:latin typeface="Aptos"/>
              </a:rPr>
              <a:t>ASK BOB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443484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7FC"/>
                </a:solidFill>
                <a:latin typeface="Aptos"/>
              </a:rPr>
              <a:t>“What should we do?”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828031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Bob combines signals into an action brief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89320"/>
            <a:ext cx="10561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Final operational answer: prioritise SH1024, reroute, deploy a suitable refrigerated vehicle, review the temperature excursion, and communicate the next action through Bob.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CHAINGUARD AI  •  IBM Bob Innovation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06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7FC"/>
                </a:solidFill>
                <a:latin typeface="Aptos"/>
              </a:rPr>
              <a:t>From web interface to operational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6B4CA"/>
                </a:solidFill>
                <a:latin typeface="Aptos"/>
              </a:rPr>
              <a:t>Frontend, backend, database and AI services form a single decision-support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6858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01952"/>
            <a:ext cx="8549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Next.js • React • TypeScript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Tailwind CSS • shadcn/ui • Recharts • Lucide React • Base UI React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PostCSS • pnpm • Vercel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42615"/>
            <a:ext cx="10835640" cy="6858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2642615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3DCDE6"/>
          </a:solidFill>
          <a:ln>
            <a:solidFill>
              <a:srgbClr val="3D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843784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761487"/>
            <a:ext cx="8549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Node.js • Express.js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REST APIs • business logic • integration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02152"/>
            <a:ext cx="10835640" cy="6858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3502152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38C58A"/>
          </a:solidFill>
          <a:ln>
            <a:solidFill>
              <a:srgbClr val="38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21024"/>
            <a:ext cx="8549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MongoDB • Mongoose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Shipments • vehicles • disruptions • carriers • routes • temperature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61688"/>
            <a:ext cx="10835640" cy="6858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" y="4361688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562855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AI /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480559"/>
            <a:ext cx="8549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Python • risk scoring • anomaly detection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route/carrier recommendation • fleet matching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21224"/>
            <a:ext cx="10835640" cy="6858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800" y="5221224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F06464"/>
          </a:solidFill>
          <a:ln>
            <a:solidFill>
              <a:srgbClr val="F0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42239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IBM BOB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340096"/>
            <a:ext cx="8549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Conversational AI copilot</a:t>
            </a:r>
            <a:r>
              <a:t/>
            </a:r>
            <a:br/>
            <a:r>
              <a:rPr>
                <a:solidFill>
                  <a:srgbClr val="F4F7FC"/>
                </a:solidFill>
                <a:latin typeface="Aptos"/>
              </a:rPr>
              <a:t>Natural-language questions grounded in project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49631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A6B4CA"/>
                </a:solidFill>
                <a:latin typeface="Aptos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3558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A6B4CA"/>
                </a:solidFill>
                <a:latin typeface="Aptos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215384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A6B4CA"/>
                </a:solidFill>
                <a:latin typeface="Aptos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07492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A6B4CA"/>
                </a:solidFill>
                <a:latin typeface="Aptos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6199632"/>
            <a:ext cx="7223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REST APIs connect the dashboard to operational data and recommendation services.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CHAINGUARD AI  •  IBM Bob Innovation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07 • TECHNOLOGY +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4F7FC"/>
                </a:solidFill>
                <a:latin typeface="Aptos"/>
              </a:rPr>
              <a:t>Built as a focused 4-person hackathon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6B4CA"/>
                </a:solidFill>
                <a:latin typeface="Aptos"/>
              </a:rPr>
              <a:t>Clear ownership keeps the demo story coherent from UI to AI to Bob.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486400" cy="43434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514600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Next.js • React • TypeScript • 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07792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907792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shadcn/ui • Base UI React • Lucide 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00984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300984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Recharts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94176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Tooling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694176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PostCSS • pnpm • Vercel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8736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087368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Node.js • Express.js • REST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480560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MongoDB • Mongoose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73752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AI /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873752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Python • risk scoring • anomaly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66944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IBM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266944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IBM Bob conversational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66360" cy="434340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2057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38C58A"/>
                </a:solidFill>
                <a:latin typeface="Aptos"/>
              </a:rPr>
              <a:t>TEAM DISTRIBUTION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542032"/>
            <a:ext cx="4617720" cy="59436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2624327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YESHA CHAUHAN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624327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D25DCE155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852927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Frontend + 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3291839"/>
            <a:ext cx="4617720" cy="59436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3374135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FAGUN MATARIA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374135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24DCE071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602735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3DCDE6"/>
                </a:solidFill>
                <a:latin typeface="Aptos"/>
              </a:rPr>
              <a:t>Backend +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4041648"/>
            <a:ext cx="4617720" cy="59436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12280" y="4123944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PRIYA PATHAK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123944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D25IT119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352544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2B84B"/>
                </a:solidFill>
                <a:latin typeface="Aptos"/>
              </a:rPr>
              <a:t>AI/ML + Recommendation Engine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4791456"/>
            <a:ext cx="4617720" cy="59436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12280" y="4873752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RASHI FOFARIA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87375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D25DCE154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5102352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06464"/>
                </a:solidFill>
                <a:latin typeface="Aptos"/>
              </a:rPr>
              <a:t>IBM Bob + Documentation + 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571500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This distribution is balanced and maps cleanly to the product modules.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CHAINGUARD AI  •  IBM Bob Innovation Hackathon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08 • IMPACT &amp;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F4F7FC"/>
                </a:solidFill>
                <a:latin typeface="Aptos"/>
              </a:rPr>
              <a:t>From “What happened?” to “What should we do?”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2763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A6B4CA"/>
                </a:solidFill>
                <a:latin typeface="Aptos"/>
              </a:rPr>
              <a:t>ChainGuard AI unifies disruption response, shipment risk, fleet utilisation and cold-chain safety in one operational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6060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816352"/>
            <a:ext cx="22128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4F8CFF"/>
                </a:solidFill>
                <a:latin typeface="Aptos"/>
              </a:rPr>
              <a:t>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Detect disruptions &amp; affected shipments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26060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2816352"/>
            <a:ext cx="22128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06464"/>
                </a:solidFill>
                <a:latin typeface="Aptos"/>
              </a:rPr>
              <a:t>PRIORITISE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24612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Quantify shipment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26060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816352"/>
            <a:ext cx="22128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38C58A"/>
                </a:solidFill>
                <a:latin typeface="Aptos"/>
              </a:rPr>
              <a:t>OPTIMISE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4612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Choose routes, carriers &amp; idle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9991" y="26060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111B30"/>
          </a:solidFill>
          <a:ln>
            <a:solidFill>
              <a:srgbClr val="11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1" y="2816352"/>
            <a:ext cx="22128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2B84B"/>
                </a:solidFill>
                <a:latin typeface="Aptos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324612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4F7FC"/>
                </a:solidFill>
                <a:latin typeface="Aptos"/>
              </a:rPr>
              <a:t>Use Bob to explain the next best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343400"/>
            <a:ext cx="6492240" cy="141732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57200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3DCDE6"/>
                </a:solidFill>
                <a:latin typeface="Aptos"/>
              </a:rPr>
              <a:t>WHAT WE’RE MOST PROUD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19472"/>
            <a:ext cx="5897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Multiple supply-chain intelligence capabilities are connected into one decision-support platform, with Bob acting as the conversational layer.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4343400"/>
            <a:ext cx="4069080" cy="1417320"/>
          </a:xfrm>
          <a:prstGeom prst="roundRect">
            <a:avLst>
              <a:gd name="adj" fmla="val 12000"/>
            </a:avLst>
          </a:prstGeom>
          <a:solidFill>
            <a:srgbClr val="16223A"/>
          </a:solidFill>
          <a:ln>
            <a:solidFill>
              <a:srgbClr val="16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457200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2B84B"/>
                </a:solidFill>
                <a:latin typeface="Aptos"/>
              </a:rPr>
              <a:t>PROTOTYPE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919472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Synthetic / simulated data • prototype routing logic • further enterprise integration required for production.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126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614476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ChainGuard AI  |  AI Track  |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A6B4CA"/>
                </a:solidFill>
                <a:latin typeface="Aptos"/>
              </a:rPr>
              <a:t>CHAINGUARD AI  •  IBM Bob Innovation Hackathon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A6B4C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920</Words>
  <Application>Microsoft Office PowerPoint</Application>
  <PresentationFormat>Custom</PresentationFormat>
  <Paragraphs>229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Dr.Dhaval Fofaria</cp:lastModifiedBy>
  <cp:revision>2</cp:revision>
  <dcterms:created xsi:type="dcterms:W3CDTF">2013-01-27T09:14:16Z</dcterms:created>
  <dcterms:modified xsi:type="dcterms:W3CDTF">2026-09-15T12:25:10Z</dcterms:modified>
  <cp:category/>
</cp:coreProperties>
</file>